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</p:sldIdLst>
  <p:sldSz cx="9144000" cy="6858000" type="screen4x3"/>
  <p:notesSz cx="6858000" cy="9144000"/>
  <p:defaultTextStyle>
    <a:defPPr>
      <a:defRPr lang="vi-V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1" autoAdjust="0"/>
    <p:restoredTop sz="93689" autoAdjust="0"/>
  </p:normalViewPr>
  <p:slideViewPr>
    <p:cSldViewPr>
      <p:cViewPr varScale="1">
        <p:scale>
          <a:sx n="116" d="100"/>
          <a:sy n="116" d="100"/>
        </p:scale>
        <p:origin x="176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FB1E7-3CCC-4FCB-9B97-C6270A89B544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6317-8375-4B7E-8570-7D76CC8D1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3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64FF5199-BA5F-4195-A8D4-369B81C24DAF}" type="slidenum">
              <a:rPr lang="en-US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5</a:t>
            </a:fld>
            <a:endParaRPr lang="en-US"/>
          </a:p>
        </p:txBody>
      </p:sp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495800"/>
            <a:ext cx="5105400" cy="41925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680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28B40-F780-420D-8116-40926AD11E26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723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3577CD-F49F-4C78-8C2A-B3B2456B86F3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322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2A2586-79AF-4794-9666-88263001FD0D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477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D138B9-06CC-4E98-A856-1791B8A0AECA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785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7F05EE-F3E3-4DE5-85CE-2F81274E2D1A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5407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AD3816-6EDD-4F4A-95B6-4DFD452DD2E0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956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19BA68-5E24-4B47-9F48-B84339E4F337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4323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885BB0-8794-4D7C-B362-094E323740AD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752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1531F2-576C-40EE-8988-C847782A7D16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403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316A50-EC40-4969-B2C4-ADFFE66E70FD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012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889F8E-7CDD-4A4C-956C-F2B650DF82A1}" type="slidenum">
              <a:rPr lang="vi-VN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379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vi-V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vi-VN"/>
              <a:t>Click to edit Master text styles</a:t>
            </a:r>
          </a:p>
          <a:p>
            <a:pPr lvl="1"/>
            <a:r>
              <a:rPr lang="vi-VN"/>
              <a:t>Second level</a:t>
            </a:r>
          </a:p>
          <a:p>
            <a:pPr lvl="2"/>
            <a:r>
              <a:rPr lang="vi-VN"/>
              <a:t>Third level</a:t>
            </a:r>
          </a:p>
          <a:p>
            <a:pPr lvl="3"/>
            <a:r>
              <a:rPr lang="vi-VN"/>
              <a:t>Fourth level</a:t>
            </a:r>
          </a:p>
          <a:p>
            <a:pPr lvl="4"/>
            <a:r>
              <a:rPr lang="vi-VN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EADA79D-0D03-471B-8726-360970DFD1F6}" type="slidenum">
              <a:rPr lang="vi-VN"/>
              <a:pPr/>
              <a:t>‹#›</a:t>
            </a:fld>
            <a:endParaRPr lang="vi-VN"/>
          </a:p>
        </p:txBody>
      </p:sp>
      <p:pic>
        <p:nvPicPr>
          <p:cNvPr id="1029" name="Picture 8" descr="BMM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178550"/>
            <a:ext cx="44958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32"/>
          <p:cNvGrpSpPr>
            <a:grpSpLocks/>
          </p:cNvGrpSpPr>
          <p:nvPr/>
        </p:nvGrpSpPr>
        <p:grpSpPr bwMode="auto">
          <a:xfrm>
            <a:off x="914400" y="2667000"/>
            <a:ext cx="7639050" cy="1143000"/>
            <a:chOff x="672" y="864"/>
            <a:chExt cx="4812" cy="720"/>
          </a:xfrm>
        </p:grpSpPr>
        <p:pic>
          <p:nvPicPr>
            <p:cNvPr id="3075" name="Picture 5" descr="uet_logo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864"/>
              <a:ext cx="72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6" name="Text Box 31"/>
            <p:cNvSpPr txBox="1">
              <a:spLocks noChangeArrowheads="1"/>
            </p:cNvSpPr>
            <p:nvPr/>
          </p:nvSpPr>
          <p:spPr bwMode="auto">
            <a:xfrm>
              <a:off x="1440" y="912"/>
              <a:ext cx="4044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vi-VN" sz="2800" b="1">
                  <a:solidFill>
                    <a:srgbClr val="0066FF"/>
                  </a:solidFill>
                </a:rPr>
                <a:t>TRƯỜNG ĐẠI HỌC CÔNG NGHỆ</a:t>
              </a:r>
            </a:p>
            <a:p>
              <a:pPr algn="ctr" eaLnBrk="1" hangingPunct="1"/>
              <a:r>
                <a:rPr lang="vi-VN" sz="2800">
                  <a:solidFill>
                    <a:srgbClr val="0066FF"/>
                  </a:solidFill>
                </a:rPr>
                <a:t>Bộ môn mạng và truyền thông máy tính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/>
          <a:lstStyle/>
          <a:p>
            <a:pPr eaLnBrk="1" hangingPunct="1"/>
            <a:r>
              <a:rPr lang="en-GB" dirty="0"/>
              <a:t>SYSTEM ADMINISTRATION</a:t>
            </a:r>
            <a:endParaRPr lang="vi-VN" dirty="0"/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3581400" y="3886200"/>
            <a:ext cx="5257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2400" dirty="0">
                <a:solidFill>
                  <a:schemeClr val="tx2"/>
                </a:solidFill>
              </a:rPr>
              <a:t>Lecturer</a:t>
            </a:r>
            <a:r>
              <a:rPr lang="vi-VN" sz="2400" dirty="0">
                <a:solidFill>
                  <a:schemeClr val="tx2"/>
                </a:solidFill>
              </a:rPr>
              <a:t>: </a:t>
            </a:r>
            <a:r>
              <a:rPr lang="en-US" sz="2400" dirty="0" err="1">
                <a:solidFill>
                  <a:schemeClr val="tx2"/>
                </a:solidFill>
              </a:rPr>
              <a:t>Dương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Lê</a:t>
            </a:r>
            <a:r>
              <a:rPr lang="en-US" sz="2400" dirty="0">
                <a:solidFill>
                  <a:schemeClr val="tx2"/>
                </a:solidFill>
              </a:rPr>
              <a:t> Minh</a:t>
            </a:r>
            <a:br>
              <a:rPr lang="vi-VN" sz="2400" dirty="0">
                <a:solidFill>
                  <a:schemeClr val="tx2"/>
                </a:solidFill>
              </a:rPr>
            </a:br>
            <a:r>
              <a:rPr lang="en-US" sz="2400" dirty="0" err="1">
                <a:solidFill>
                  <a:schemeClr val="tx2"/>
                </a:solidFill>
              </a:rPr>
              <a:t>minhdl</a:t>
            </a:r>
            <a:r>
              <a:rPr lang="vi-VN" sz="2400" dirty="0">
                <a:solidFill>
                  <a:schemeClr val="tx2"/>
                </a:solidFill>
              </a:rPr>
              <a:t>@vnu.edu.vn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 New Roman" pitchFamily="16" charset="0"/>
              <a:buNone/>
              <a:defRPr/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endParaRPr lang="en-US" dirty="0"/>
          </a:p>
          <a:p>
            <a:pPr lvl="1">
              <a:buFont typeface="Arial" charset="0"/>
              <a:buChar char="•"/>
              <a:defRPr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nghề</a:t>
            </a:r>
            <a:r>
              <a:rPr lang="en-US" dirty="0"/>
              <a:t> QTM,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QTM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  <a:p>
            <a:pPr lvl="1">
              <a:buFont typeface="Arial" charset="0"/>
              <a:buChar char="•"/>
              <a:defRPr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LAN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(&lt; 20 PCs)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: DNS, WEB, Email, File Sharing, DHCP, Proxy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  <a:p>
            <a:pPr lvl="1">
              <a:buFont typeface="Arial" charset="0"/>
              <a:buChar char="•"/>
              <a:defRPr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67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 New Roman" pitchFamily="16" charset="0"/>
              <a:buNone/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: </a:t>
            </a:r>
            <a:r>
              <a:rPr lang="en-US" dirty="0" err="1"/>
              <a:t>Bấm</a:t>
            </a:r>
            <a:r>
              <a:rPr lang="en-US" dirty="0"/>
              <a:t> </a:t>
            </a:r>
            <a:r>
              <a:rPr lang="en-US" dirty="0" err="1"/>
              <a:t>dây</a:t>
            </a:r>
            <a:r>
              <a:rPr lang="en-US" dirty="0"/>
              <a:t>, Patch Panel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switch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pPr lvl="1">
              <a:buFont typeface="Arial" charset="0"/>
              <a:buChar char="•"/>
              <a:defRPr/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LAN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1">
              <a:buFont typeface="Arial" charset="0"/>
              <a:buChar char="•"/>
              <a:defRPr/>
            </a:pP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Kinh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nghiệm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mua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sắm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và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đấu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thầu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vi-VN" dirty="0"/>
              <a:t>kiến thức tổng quan hiện đại về cloud</a:t>
            </a:r>
            <a:endParaRPr lang="en-US" dirty="0"/>
          </a:p>
          <a:p>
            <a:pPr lvl="1">
              <a:buFont typeface="Arial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00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04813"/>
            <a:ext cx="77724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/>
              <a:t>Tài liệu học tập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4114800"/>
          </a:xfrm>
        </p:spPr>
        <p:txBody>
          <a:bodyPr>
            <a:normAutofit fontScale="77500" lnSpcReduction="20000"/>
          </a:bodyPr>
          <a:lstStyle/>
          <a:p>
            <a:pPr marL="341313" indent="-341313" eaLnBrk="1" hangingPunct="1"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Đắc</a:t>
            </a:r>
            <a:r>
              <a:rPr lang="en-US" dirty="0"/>
              <a:t> Phương. </a:t>
            </a:r>
            <a:r>
              <a:rPr lang="en-US" b="1" i="1" dirty="0" err="1"/>
              <a:t>Mạng</a:t>
            </a:r>
            <a:r>
              <a:rPr lang="en-US" b="1" i="1" dirty="0"/>
              <a:t> </a:t>
            </a:r>
            <a:r>
              <a:rPr lang="en-US" b="1" i="1" dirty="0" err="1"/>
              <a:t>máy</a:t>
            </a:r>
            <a:r>
              <a:rPr lang="en-US" b="1" i="1" dirty="0"/>
              <a:t> </a:t>
            </a:r>
            <a:r>
              <a:rPr lang="en-US" b="1" i="1" dirty="0" err="1"/>
              <a:t>tính</a:t>
            </a:r>
            <a:r>
              <a:rPr lang="en-US" dirty="0"/>
              <a:t>. NXB ĐHQGHN.</a:t>
            </a:r>
          </a:p>
          <a:p>
            <a:pPr marL="341313" indent="-341313" eaLnBrk="1" hangingPunct="1"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Đắc</a:t>
            </a:r>
            <a:r>
              <a:rPr lang="en-US" dirty="0"/>
              <a:t> Phương. </a:t>
            </a:r>
            <a:r>
              <a:rPr lang="en-US" b="1" i="1" dirty="0" err="1"/>
              <a:t>Bài</a:t>
            </a:r>
            <a:r>
              <a:rPr lang="en-US" b="1" i="1" dirty="0"/>
              <a:t> </a:t>
            </a:r>
            <a:r>
              <a:rPr lang="en-US" b="1" i="1" dirty="0" err="1"/>
              <a:t>giảng</a:t>
            </a:r>
            <a:r>
              <a:rPr lang="en-US" b="1" i="1" dirty="0"/>
              <a:t> </a:t>
            </a:r>
            <a:r>
              <a:rPr lang="en-US" b="1" i="1" dirty="0" err="1"/>
              <a:t>điện</a:t>
            </a:r>
            <a:r>
              <a:rPr lang="en-US" b="1" i="1" dirty="0"/>
              <a:t> </a:t>
            </a:r>
            <a:r>
              <a:rPr lang="en-US" b="1" i="1" dirty="0" err="1"/>
              <a:t>tử</a:t>
            </a:r>
            <a:r>
              <a:rPr lang="en-US" b="1" i="1" dirty="0"/>
              <a:t> “</a:t>
            </a:r>
            <a:r>
              <a:rPr lang="en-US" b="1" i="1" dirty="0" err="1"/>
              <a:t>Nhập</a:t>
            </a:r>
            <a:r>
              <a:rPr lang="en-US" b="1" i="1" dirty="0"/>
              <a:t> </a:t>
            </a:r>
            <a:r>
              <a:rPr lang="en-US" b="1" i="1" dirty="0" err="1"/>
              <a:t>môn</a:t>
            </a:r>
            <a:r>
              <a:rPr lang="en-US" b="1" i="1" dirty="0"/>
              <a:t> </a:t>
            </a:r>
            <a:r>
              <a:rPr lang="en-US" b="1" i="1" dirty="0" err="1"/>
              <a:t>Mạng</a:t>
            </a:r>
            <a:r>
              <a:rPr lang="en-US" b="1" i="1" dirty="0"/>
              <a:t> </a:t>
            </a:r>
            <a:r>
              <a:rPr lang="en-US" b="1" i="1" dirty="0" err="1"/>
              <a:t>máy</a:t>
            </a:r>
            <a:r>
              <a:rPr lang="en-US" b="1" i="1" dirty="0"/>
              <a:t> </a:t>
            </a:r>
            <a:r>
              <a:rPr lang="en-US" b="1" i="1" dirty="0" err="1"/>
              <a:t>tính</a:t>
            </a:r>
            <a:r>
              <a:rPr lang="en-US" b="1" i="1" dirty="0"/>
              <a:t>”</a:t>
            </a:r>
            <a:r>
              <a:rPr lang="en-US" dirty="0"/>
              <a:t>. 2007.</a:t>
            </a:r>
          </a:p>
          <a:p>
            <a:pPr marL="341313" indent="-341313" eaLnBrk="1" hangingPunct="1"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/>
              <a:t>J. Kurose and K. Ross. </a:t>
            </a:r>
            <a:r>
              <a:rPr lang="en-US" b="1" i="1" dirty="0"/>
              <a:t>Computer Networking: A Top-Down Approach Featuring the Internet</a:t>
            </a:r>
            <a:r>
              <a:rPr lang="en-US" dirty="0"/>
              <a:t>. Addison Wesley, 3</a:t>
            </a:r>
            <a:r>
              <a:rPr lang="en-US" baseline="30000" dirty="0"/>
              <a:t>rd</a:t>
            </a:r>
            <a:r>
              <a:rPr lang="en-US" dirty="0"/>
              <a:t> Edition. May 2004.</a:t>
            </a:r>
            <a:endParaRPr lang="en-US" dirty="0">
              <a:solidFill>
                <a:srgbClr val="333399"/>
              </a:solidFill>
            </a:endParaRPr>
          </a:p>
          <a:p>
            <a:pPr marL="341313" indent="-341313" eaLnBrk="1" hangingPunct="1"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solidFill>
                  <a:schemeClr val="tx1"/>
                </a:solidFill>
              </a:rPr>
              <a:t>Thomas A. </a:t>
            </a:r>
            <a:r>
              <a:rPr lang="en-US" dirty="0" err="1">
                <a:solidFill>
                  <a:schemeClr val="tx1"/>
                </a:solidFill>
              </a:rPr>
              <a:t>Limoncelli</a:t>
            </a:r>
            <a:r>
              <a:rPr lang="en-US" dirty="0">
                <a:solidFill>
                  <a:schemeClr val="tx1"/>
                </a:solidFill>
              </a:rPr>
              <a:t> &amp; Christine Hogan. </a:t>
            </a:r>
            <a:r>
              <a:rPr lang="en-US" b="1" i="1" dirty="0">
                <a:solidFill>
                  <a:schemeClr val="tx1"/>
                </a:solidFill>
              </a:rPr>
              <a:t>The Practice of System and Network Administration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/>
              <a:t>Addison Wesley</a:t>
            </a:r>
            <a:r>
              <a:rPr lang="en-US" dirty="0">
                <a:solidFill>
                  <a:schemeClr val="tx1"/>
                </a:solidFill>
              </a:rPr>
              <a:t>. 2007 (2016)</a:t>
            </a:r>
          </a:p>
          <a:p>
            <a:pPr marL="341313" indent="-341313" eaLnBrk="1" hangingPunct="1"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69797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dạy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9882258"/>
              </p:ext>
            </p:extLst>
          </p:nvPr>
        </p:nvGraphicFramePr>
        <p:xfrm>
          <a:off x="990600" y="1981197"/>
          <a:ext cx="7391399" cy="299019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{9DCAF9ED-07DC-4A11-8D7F-57B35C25682E}</a:tableStyleId>
              </a:tblPr>
              <a:tblGrid>
                <a:gridCol w="195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2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2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Hình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thức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dạy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Số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tiết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tuần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Từ tuần …đến tuần…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Địa điểm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7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Lý thuyết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1-5, 7-10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Giảng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đường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0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Thực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hành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6, 11-15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Giảng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đường</a:t>
                      </a:r>
                      <a:r>
                        <a:rPr lang="en-US" sz="1200" dirty="0">
                          <a:effectLst/>
                        </a:rPr>
                        <a:t> (laptop)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0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Tự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học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bắt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buộc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90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dạy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945530"/>
              </p:ext>
            </p:extLst>
          </p:nvPr>
        </p:nvGraphicFramePr>
        <p:xfrm>
          <a:off x="1828800" y="1295400"/>
          <a:ext cx="6019801" cy="526360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{284E427A-3D55-4303-BF80-6455036E1DE7}</a:tableStyleId>
              </a:tblPr>
              <a:tblGrid>
                <a:gridCol w="517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2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9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Tuần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Nội dung giảng dạy lý thuyết/thực hành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Nội dung sinh viên tự học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9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Giới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thiệu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về</a:t>
                      </a:r>
                      <a:r>
                        <a:rPr lang="en-US" sz="1100" dirty="0">
                          <a:effectLst/>
                        </a:rPr>
                        <a:t> QTM </a:t>
                      </a:r>
                      <a:r>
                        <a:rPr lang="en-US" sz="1100" dirty="0" err="1">
                          <a:effectLst/>
                        </a:rPr>
                        <a:t>và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nghề</a:t>
                      </a:r>
                      <a:r>
                        <a:rPr lang="en-US" sz="1100" dirty="0">
                          <a:effectLst/>
                        </a:rPr>
                        <a:t> QTM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Giới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thiệu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về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thiết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bị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mạng</a:t>
                      </a:r>
                      <a:r>
                        <a:rPr lang="en-US" sz="1100" dirty="0">
                          <a:effectLst/>
                        </a:rPr>
                        <a:t> (1)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Đọc thêm những tài liệu cụ thể liên quan đến từng thiết bị 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Giới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thiệu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về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thiết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bị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mạng</a:t>
                      </a:r>
                      <a:r>
                        <a:rPr lang="en-US" sz="1100" dirty="0">
                          <a:effectLst/>
                        </a:rPr>
                        <a:t> (2)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Tự thực hành theo hướng dẫn ở nhà trước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9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Các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thành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phần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cần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quản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trị</a:t>
                      </a:r>
                      <a:r>
                        <a:rPr lang="en-US" sz="1100" dirty="0">
                          <a:effectLst/>
                        </a:rPr>
                        <a:t> (1)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Đọc thêm tài liệu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9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Các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thành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phần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cần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quản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trị</a:t>
                      </a:r>
                      <a:r>
                        <a:rPr lang="en-US" sz="1100" dirty="0">
                          <a:effectLst/>
                        </a:rPr>
                        <a:t> (2)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Đọc thêm tài liệu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9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Kiểm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tra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thực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baseline="0" dirty="0" err="1"/>
                        <a:t>hành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baseline="0" dirty="0" err="1"/>
                        <a:t>bấm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baseline="0" dirty="0" err="1"/>
                        <a:t>dây</a:t>
                      </a:r>
                      <a:endParaRPr lang="en-US" sz="1100" dirty="0"/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Các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vụ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cơ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bản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của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quản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trị</a:t>
                      </a:r>
                      <a:r>
                        <a:rPr lang="en-US" sz="1100" dirty="0">
                          <a:effectLst/>
                        </a:rPr>
                        <a:t> (1)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Đọc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thêm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tài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liệu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thực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hành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liên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quan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Các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vụ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cơ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bản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của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quản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trị</a:t>
                      </a:r>
                      <a:r>
                        <a:rPr lang="en-US" sz="1100" dirty="0">
                          <a:effectLst/>
                        </a:rPr>
                        <a:t> (2)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Đọc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thêm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các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tài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liệu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thực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hành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liên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quan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9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effectLst/>
                        </a:rPr>
                        <a:t>Thực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hành</a:t>
                      </a:r>
                      <a:r>
                        <a:rPr lang="en-US" sz="1100" dirty="0">
                          <a:effectLst/>
                        </a:rPr>
                        <a:t> switch (1)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effectLst/>
                        </a:rPr>
                        <a:t>Thực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hành</a:t>
                      </a:r>
                      <a:r>
                        <a:rPr lang="en-US" sz="1100" dirty="0">
                          <a:effectLst/>
                        </a:rPr>
                        <a:t> switch (2)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Tự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thực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hành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thêm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sử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dụng</a:t>
                      </a:r>
                      <a:r>
                        <a:rPr lang="en-US" sz="1100" dirty="0"/>
                        <a:t> GNS3, Packet Tracer</a:t>
                      </a: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Seminar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r>
                        <a:rPr lang="en-US" sz="1100" dirty="0" err="1"/>
                        <a:t>Trình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baseline="0" dirty="0" err="1"/>
                        <a:t>bày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baseline="0" dirty="0" err="1"/>
                        <a:t>nhóm</a:t>
                      </a:r>
                      <a:r>
                        <a:rPr lang="vi-VN" sz="1100" baseline="0" dirty="0"/>
                        <a:t> và lấy điểm giữa kỳ và cuối kỳ</a:t>
                      </a:r>
                      <a:endParaRPr lang="en-US" sz="1100" dirty="0"/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79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Seminar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Seminar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Seminar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61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Seminar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4181" marR="641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106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ngủ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trật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buổi</a:t>
            </a:r>
            <a:r>
              <a:rPr lang="en-US" dirty="0"/>
              <a:t> seminar)</a:t>
            </a:r>
          </a:p>
          <a:p>
            <a:pPr lvl="1"/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đuổi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/>
              <a:t>kỳ</a:t>
            </a:r>
            <a:endParaRPr lang="en-US" dirty="0"/>
          </a:p>
          <a:p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endParaRPr lang="en-US" dirty="0"/>
          </a:p>
          <a:p>
            <a:pPr lvl="1"/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muộn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15’</a:t>
            </a:r>
          </a:p>
          <a:p>
            <a:r>
              <a:rPr lang="en-US" dirty="0" err="1"/>
              <a:t>Mượn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mic</a:t>
            </a:r>
          </a:p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vi-VN" dirty="0"/>
              <a:t>Website môn học</a:t>
            </a:r>
            <a:endParaRPr lang="en-US" dirty="0"/>
          </a:p>
          <a:p>
            <a:r>
              <a:rPr lang="en-US" dirty="0"/>
              <a:t>Seminar</a:t>
            </a:r>
          </a:p>
        </p:txBody>
      </p:sp>
    </p:spTree>
    <p:extLst>
      <p:ext uri="{BB962C8B-B14F-4D97-AF65-F5344CB8AC3E}">
        <p14:creationId xmlns:p14="http://schemas.microsoft.com/office/powerpoint/2010/main" val="33397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Network management </a:t>
            </a:r>
            <a:r>
              <a:rPr lang="en-US" dirty="0" err="1"/>
              <a:t>softwares</a:t>
            </a:r>
            <a:r>
              <a:rPr lang="en-US" dirty="0"/>
              <a:t>: Cacti, Nagios, </a:t>
            </a:r>
            <a:r>
              <a:rPr lang="en-US" dirty="0" err="1">
                <a:solidFill>
                  <a:srgbClr val="FF0000"/>
                </a:solidFill>
              </a:rPr>
              <a:t>Icinga</a:t>
            </a:r>
            <a:r>
              <a:rPr lang="en-US" dirty="0"/>
              <a:t> (MIB, SNMP) with case-studies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center tier 1-3 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Server clustering with ELB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Implement a big network configuration with Packet Tracer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UET </a:t>
            </a:r>
            <a:r>
              <a:rPr lang="en-US" dirty="0" err="1"/>
              <a:t>wifi</a:t>
            </a:r>
            <a:r>
              <a:rPr lang="en-US" dirty="0"/>
              <a:t> with LDAP authentication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Bandwidth limitation with Proxy server</a:t>
            </a:r>
          </a:p>
        </p:txBody>
      </p:sp>
    </p:spTree>
    <p:extLst>
      <p:ext uri="{BB962C8B-B14F-4D97-AF65-F5344CB8AC3E}">
        <p14:creationId xmlns:p14="http://schemas.microsoft.com/office/powerpoint/2010/main" val="283574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Network management software: </a:t>
            </a:r>
            <a:r>
              <a:rPr lang="en-US" dirty="0" err="1">
                <a:solidFill>
                  <a:srgbClr val="FF0000"/>
                </a:solidFill>
              </a:rPr>
              <a:t>Icinga</a:t>
            </a:r>
            <a:r>
              <a:rPr lang="en-US" dirty="0"/>
              <a:t> (MIB, SNMP) with case-studies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center tier 1-3 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Implement a big network configuration with Packet Tracer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Network s</a:t>
            </a:r>
            <a:r>
              <a:rPr lang="vi-VN" dirty="0"/>
              <a:t>ervice monitoring with log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Bandwidth limitation with Proxy server</a:t>
            </a:r>
            <a:endParaRPr lang="vi-VN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Create multiple predefined VM via VMWare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Network virtualization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Docker, Kubernet, MPLS,…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86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Network management software: </a:t>
            </a:r>
            <a:r>
              <a:rPr lang="en-US" dirty="0" err="1">
                <a:solidFill>
                  <a:srgbClr val="FF0000"/>
                </a:solidFill>
              </a:rPr>
              <a:t>Icinga</a:t>
            </a:r>
            <a:r>
              <a:rPr lang="en-US" dirty="0"/>
              <a:t> (MIB, SNMP) with case-studies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center tier 1-3 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Implement a big network configuration with Packet Tracer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Network s</a:t>
            </a:r>
            <a:r>
              <a:rPr lang="vi-VN" dirty="0"/>
              <a:t>ervice monitoring with log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Bandwidth limitation with Proxy server</a:t>
            </a:r>
            <a:endParaRPr lang="vi-VN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Create multiple predefined VM via VMWare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Network virtualization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Docker, Kubernet,…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MPLS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Iptables &amp; routing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Local DNS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77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00BB-7D33-6F47-B1D5-F992EB98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Format báo cáo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47F3B-6C58-B546-97C5-FF6CE340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300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3100</TotalTime>
  <Words>725</Words>
  <Application>Microsoft Macintosh PowerPoint</Application>
  <PresentationFormat>On-screen Show (4:3)</PresentationFormat>
  <Paragraphs>127</Paragraphs>
  <Slides>12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Default Design</vt:lpstr>
      <vt:lpstr>PowerPoint Presentation</vt:lpstr>
      <vt:lpstr>SYSTEM ADMINISTRATION</vt:lpstr>
      <vt:lpstr>Mục tiêu chính</vt:lpstr>
      <vt:lpstr>Các mảng kiến thức chính</vt:lpstr>
      <vt:lpstr>Tài liệu học tập</vt:lpstr>
      <vt:lpstr>Lịch dạy</vt:lpstr>
      <vt:lpstr>Lịch trình dạy cụ thể </vt:lpstr>
      <vt:lpstr>Quy tắc phòng học</vt:lpstr>
      <vt:lpstr>Seminar</vt:lpstr>
      <vt:lpstr>Seminar</vt:lpstr>
      <vt:lpstr>Seminar</vt:lpstr>
      <vt:lpstr>Format báo cáo</vt:lpstr>
    </vt:vector>
  </TitlesOfParts>
  <Company>VNU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Mai Tran</dc:creator>
  <cp:lastModifiedBy>Le Minh Duong</cp:lastModifiedBy>
  <cp:revision>96</cp:revision>
  <dcterms:created xsi:type="dcterms:W3CDTF">2011-07-04T07:57:24Z</dcterms:created>
  <dcterms:modified xsi:type="dcterms:W3CDTF">2020-11-25T06:11:24Z</dcterms:modified>
</cp:coreProperties>
</file>